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4"/>
    <p:restoredTop sz="94689"/>
  </p:normalViewPr>
  <p:slideViewPr>
    <p:cSldViewPr snapToGrid="0">
      <p:cViewPr varScale="1">
        <p:scale>
          <a:sx n="143" d="100"/>
          <a:sy n="143" d="100"/>
        </p:scale>
        <p:origin x="3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EB7F-360A-9950-DDD8-A136E1DF2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17ED2-18A6-4AE8-FC83-2D13F0E0C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1A0FC-5C20-C821-37AA-16A1331D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2D3E-628F-8A39-50DC-B16FDD89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57ED-B081-EE49-BE7E-381181CC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C6EC-732F-F92F-CEEE-9C0152EC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CEA05-2FC8-65C1-BC78-7DD643ADB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5769-C8C7-F0BD-B7F5-3B333D6A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A23C9-4D2E-771A-B2F6-6EAB12D7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A0E3-68C4-37F0-23F2-BA1286AE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1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35BB-A6E2-C8AC-5AD8-9905BB26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E83B-15CC-2046-8543-43A10390C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C61C7-AD84-2888-BB72-8BDBA846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D7D94-19CD-414F-9BE3-C9AB03D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AEB28-EFF4-E064-98C7-7E3982CF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3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C4C1-E38C-D1B0-DAEF-9B24ABD2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FFF12-1C64-4330-4480-DC144D4D2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8EEB7-9B6F-E5AD-594B-7FEADDCEE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A70FA-3043-F9F3-7713-70204130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3B188-3FF5-345E-9099-9B8A7FA6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E69CC-9D8B-8D57-EB85-6E3F8D53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5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FE24-BD92-06F7-8B38-DAD521739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E62A4-8747-B39E-F0EF-1216E46C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94ECC-768A-9F25-41ED-1D7A635B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6B2A2-11CE-41E9-1794-618329131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A709-F8E1-A70C-FEE5-1F3745C1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A242C-6DBD-C93B-5032-30CC34D4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87E97-617F-E0CD-DEFA-6195043C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1C420-9EAF-2398-AEF4-E35D87DE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5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60BA-BAA7-4B8B-0E78-38D8B874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6D20E-9F6D-29F5-6E52-77FB20E9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D1CA0-5007-C7DB-DB6D-1DEC40D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DBC37-CBEF-7963-2C5D-DA63427E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6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D23C4-B97A-EC99-B6E3-9177DE92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67CF6-33F3-A821-33CF-7545518D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372E9-E914-7B57-69F5-495B3491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3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4E87-20A5-D33C-9B34-57E2C45A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FBF1A-6895-24A9-F992-3667164F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8712A-F4A6-2BC8-9333-F50AC1253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757F9-8AA4-C67F-A3D0-BEFC2E89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9ED3A-B09D-1CDC-FECB-1B9E2662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267A5-B1BE-015A-3B4B-01691B37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D186-08CC-F4B5-0902-67D47448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4C081-D6CB-37F4-D838-709EB461D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A261-CBDA-E67A-2EC7-911A15C9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51A0D-5FD6-EBD6-B726-9B1D69AB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BB208-49FD-0808-97A8-68DB2997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38C2-057E-428D-CBF0-F6A48A9F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5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EF6C-B685-D232-DE62-277D5708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72055-AA45-1FF6-F19B-493161EA6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667A3-5F12-596D-5359-ED6D98E9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8496-05D0-013F-8488-45B1B308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4CE83-5D4A-E28D-B240-5134006D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0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E6D54-9428-DFF0-DC27-E6D5955EF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2FABE-661D-574E-A9C6-4016D5CD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56FD5-CB55-17F7-9135-4BB3A5A1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5C90-3F7B-9383-E68B-459BC700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007C9-4E0D-6CE2-09B4-C0E4F455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0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D82AA-96B3-96C3-05FD-AD79DFE5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388F8-283E-2ACD-817C-5C16B620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32321-D074-AE51-A0F4-EAFD748AD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9A9E7-3A1C-D444-A8EB-EE0E558C1478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FB4D-4885-405D-7FA5-F66E47F67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61DE8-3AE6-4A4D-46C7-37BC88AE2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5BEEE-6712-F64A-B69E-6FA54A5EB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7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C80A-5911-5FA6-D931-8FEB95CF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 alignment between mouse and rabbit from allometric scaling of parameter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5B9243-335A-7132-7BFC-FB76B31E5BD7}"/>
                  </a:ext>
                </a:extLst>
              </p:cNvPr>
              <p:cNvSpPr txBox="1"/>
              <p:nvPr/>
            </p:nvSpPr>
            <p:spPr bwMode="auto">
              <a:xfrm>
                <a:off x="838200" y="4928140"/>
                <a:ext cx="4572000" cy="590226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Rabbit</a:t>
                </a:r>
                <a:r>
                  <a:rPr lang="en-US" sz="1800" b="0" dirty="0"/>
                  <a:t> CL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𝑟𝑎𝑏𝑏𝑖𝑡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num>
                              <m:den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𝑚𝑜𝑢𝑠𝑒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5B9243-335A-7132-7BFC-FB76B31E5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928140"/>
                <a:ext cx="4572000" cy="590226"/>
              </a:xfrm>
              <a:prstGeom prst="rect">
                <a:avLst/>
              </a:prstGeom>
              <a:blipFill>
                <a:blip r:embed="rId2"/>
                <a:stretch>
                  <a:fillRect l="-1385" b="-4167"/>
                </a:stretch>
              </a:blipFill>
              <a:ln w="19050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019C85-82F6-17FF-9404-C46E9430EF05}"/>
                  </a:ext>
                </a:extLst>
              </p:cNvPr>
              <p:cNvSpPr txBox="1"/>
              <p:nvPr/>
            </p:nvSpPr>
            <p:spPr bwMode="auto">
              <a:xfrm>
                <a:off x="838200" y="5518366"/>
                <a:ext cx="4572000" cy="585738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800" b="0" dirty="0"/>
                  <a:t>Rabbit V 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𝑚𝑜𝑢𝑠𝑒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𝑟𝑎𝑏𝑏𝑖𝑡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num>
                              <m:den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𝑚𝑜𝑢𝑠𝑒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019C85-82F6-17FF-9404-C46E9430E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518366"/>
                <a:ext cx="4572000" cy="585738"/>
              </a:xfrm>
              <a:prstGeom prst="rect">
                <a:avLst/>
              </a:prstGeom>
              <a:blipFill>
                <a:blip r:embed="rId3"/>
                <a:stretch>
                  <a:fillRect l="-1385" b="-6383"/>
                </a:stretch>
              </a:blipFill>
              <a:ln w="19050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48001-F5AE-A42D-5FEE-852F3E5A9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186080"/>
              </p:ext>
            </p:extLst>
          </p:nvPr>
        </p:nvGraphicFramePr>
        <p:xfrm>
          <a:off x="909917" y="1974889"/>
          <a:ext cx="9542929" cy="2164080"/>
        </p:xfrm>
        <a:graphic>
          <a:graphicData uri="http://schemas.openxmlformats.org/drawingml/2006/table">
            <a:tbl>
              <a:tblPr>
                <a:solidFill>
                  <a:srgbClr val="B3B3FF"/>
                </a:solidFill>
                <a:tableStyleId>{9D7B26C5-4107-4FEC-AEDC-1716B250A1EF}</a:tableStyleId>
              </a:tblPr>
              <a:tblGrid>
                <a:gridCol w="1062318">
                  <a:extLst>
                    <a:ext uri="{9D8B030D-6E8A-4147-A177-3AD203B41FA5}">
                      <a16:colId xmlns:a16="http://schemas.microsoft.com/office/drawing/2014/main" val="3365891770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2724855007"/>
                    </a:ext>
                  </a:extLst>
                </a:gridCol>
                <a:gridCol w="1470212">
                  <a:extLst>
                    <a:ext uri="{9D8B030D-6E8A-4147-A177-3AD203B41FA5}">
                      <a16:colId xmlns:a16="http://schemas.microsoft.com/office/drawing/2014/main" val="3104311457"/>
                    </a:ext>
                  </a:extLst>
                </a:gridCol>
                <a:gridCol w="1147482">
                  <a:extLst>
                    <a:ext uri="{9D8B030D-6E8A-4147-A177-3AD203B41FA5}">
                      <a16:colId xmlns:a16="http://schemas.microsoft.com/office/drawing/2014/main" val="733718047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064527109"/>
                    </a:ext>
                  </a:extLst>
                </a:gridCol>
                <a:gridCol w="1407459">
                  <a:extLst>
                    <a:ext uri="{9D8B030D-6E8A-4147-A177-3AD203B41FA5}">
                      <a16:colId xmlns:a16="http://schemas.microsoft.com/office/drawing/2014/main" val="3532862806"/>
                    </a:ext>
                  </a:extLst>
                </a:gridCol>
                <a:gridCol w="1748117">
                  <a:extLst>
                    <a:ext uri="{9D8B030D-6E8A-4147-A177-3AD203B41FA5}">
                      <a16:colId xmlns:a16="http://schemas.microsoft.com/office/drawing/2014/main" val="49386637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Species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Avg </a:t>
                      </a:r>
                      <a:r>
                        <a:rPr lang="en-US" sz="1600" b="1" dirty="0" err="1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wt</a:t>
                      </a: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(kg)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PK parameter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NONMEM estimate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 err="1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Allo</a:t>
                      </a: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scaling estimate from mouse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 err="1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Allo</a:t>
                      </a: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scaling estimate from rabbit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Scaled human (60kg) parameter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428672"/>
                  </a:ext>
                </a:extLst>
              </a:tr>
              <a:tr h="281940">
                <a:tc rowSpan="2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Mouse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0.02557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CL (L/h):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0.00904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0.007429</a:t>
                      </a:r>
                      <a:endParaRPr lang="en-US" sz="1600" b="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3.05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235474"/>
                  </a:ext>
                </a:extLst>
              </a:tr>
              <a:tr h="281940">
                <a:tc vMerge="1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 (L):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0.0669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0.052721</a:t>
                      </a:r>
                      <a:endParaRPr lang="en-US" sz="1600" b="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ptos" panose="020B0004020202020204" pitchFamily="34" charset="0"/>
                        </a:rPr>
                        <a:t>156.96</a:t>
                      </a:r>
                      <a:endParaRPr lang="en-US" sz="1600" b="1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18178"/>
                  </a:ext>
                </a:extLst>
              </a:tr>
              <a:tr h="281940">
                <a:tc rowSpan="2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Rabbit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3.4488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CL (L/h):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0.294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0.3578</a:t>
                      </a:r>
                      <a:endParaRPr lang="en-US" sz="1600" b="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2.50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84528"/>
                  </a:ext>
                </a:extLst>
              </a:tr>
              <a:tr h="281940">
                <a:tc vMerge="1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 (L):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7.11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9.0221</a:t>
                      </a:r>
                      <a:endParaRPr lang="en-US" sz="1600" b="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ptos" panose="020B0004020202020204" pitchFamily="34" charset="0"/>
                        </a:rPr>
                        <a:t>123.69</a:t>
                      </a:r>
                      <a:endParaRPr lang="en-US" sz="1600" b="1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57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B1104F-EA12-6255-EB77-7F5090A794EA}"/>
              </a:ext>
            </a:extLst>
          </p:cNvPr>
          <p:cNvSpPr txBox="1"/>
          <p:nvPr/>
        </p:nvSpPr>
        <p:spPr>
          <a:xfrm>
            <a:off x="838200" y="4558808"/>
            <a:ext cx="225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equations: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39B4-1DCA-6236-3123-058AF75DE721}"/>
              </a:ext>
            </a:extLst>
          </p:cNvPr>
          <p:cNvSpPr txBox="1"/>
          <p:nvPr/>
        </p:nvSpPr>
        <p:spPr>
          <a:xfrm>
            <a:off x="8580583" y="4147934"/>
            <a:ext cx="2773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allo</a:t>
            </a:r>
            <a:r>
              <a:rPr lang="en-US" dirty="0"/>
              <a:t> scaling for humans to compare w/ linear relationship on next slide)</a:t>
            </a:r>
          </a:p>
        </p:txBody>
      </p:sp>
    </p:spTree>
    <p:extLst>
      <p:ext uri="{BB962C8B-B14F-4D97-AF65-F5344CB8AC3E}">
        <p14:creationId xmlns:p14="http://schemas.microsoft.com/office/powerpoint/2010/main" val="279170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3AFD-7067-7919-B8F6-395C1CDC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relationship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06979F-BB96-4242-F355-A7248B415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333" y="1851403"/>
            <a:ext cx="4637914" cy="363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020409-9205-DA8D-FC6B-9B45B2BE4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23" y="1851403"/>
            <a:ext cx="4807835" cy="363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216030-45EF-23DF-87A9-2EEDF04E89CF}"/>
              </a:ext>
            </a:extLst>
          </p:cNvPr>
          <p:cNvSpPr txBox="1"/>
          <p:nvPr/>
        </p:nvSpPr>
        <p:spPr>
          <a:xfrm>
            <a:off x="1460852" y="5592895"/>
            <a:ext cx="325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Predicted from equation Human V (L): </a:t>
            </a:r>
            <a:r>
              <a:rPr lang="en-US" dirty="0"/>
              <a:t>121.56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E6216-BB25-ADC5-DC7B-36EC8C92B705}"/>
              </a:ext>
            </a:extLst>
          </p:cNvPr>
          <p:cNvSpPr txBox="1"/>
          <p:nvPr/>
        </p:nvSpPr>
        <p:spPr>
          <a:xfrm>
            <a:off x="6766189" y="5592895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Predicted from equation</a:t>
            </a:r>
          </a:p>
          <a:p>
            <a:r>
              <a:rPr lang="en-US" dirty="0"/>
              <a:t>Human CL</a:t>
            </a:r>
            <a:r>
              <a:rPr lang="en-US" dirty="0">
                <a:sym typeface="Wingdings" pitchFamily="2" charset="2"/>
              </a:rPr>
              <a:t> (L/h): </a:t>
            </a:r>
            <a:r>
              <a:rPr lang="en-US" dirty="0"/>
              <a:t>4.97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360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A9CE-524E-7AED-A950-BDD5DF9B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clinical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9F345-CCC4-801C-78D2-6D223CD3E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 from linear equation (4.97 L/h)</a:t>
            </a:r>
          </a:p>
          <a:p>
            <a:r>
              <a:rPr lang="en-US" dirty="0"/>
              <a:t>V from linear equation (121.56 L)</a:t>
            </a:r>
          </a:p>
          <a:p>
            <a:r>
              <a:rPr lang="en-US" dirty="0"/>
              <a:t>Use KA from rabbits</a:t>
            </a:r>
          </a:p>
          <a:p>
            <a:r>
              <a:rPr lang="en-US" dirty="0"/>
              <a:t>Assume one compartment model</a:t>
            </a:r>
          </a:p>
          <a:p>
            <a:r>
              <a:rPr lang="en-US" dirty="0"/>
              <a:t>No IIV, no error model</a:t>
            </a:r>
          </a:p>
        </p:txBody>
      </p:sp>
    </p:spTree>
    <p:extLst>
      <p:ext uri="{BB962C8B-B14F-4D97-AF65-F5344CB8AC3E}">
        <p14:creationId xmlns:p14="http://schemas.microsoft.com/office/powerpoint/2010/main" val="40498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2815</TotalTime>
  <Words>170</Words>
  <Application>Microsoft Macintosh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Wingdings</vt:lpstr>
      <vt:lpstr>Office Theme</vt:lpstr>
      <vt:lpstr>Good alignment between mouse and rabbit from allometric scaling of parameter estimates</vt:lpstr>
      <vt:lpstr>Linear relationship</vt:lpstr>
      <vt:lpstr>For clinical simulations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Bustion, Annamarie</dc:creator>
  <cp:lastModifiedBy>Patel, Anu</cp:lastModifiedBy>
  <cp:revision>13</cp:revision>
  <dcterms:created xsi:type="dcterms:W3CDTF">2024-07-11T20:40:58Z</dcterms:created>
  <dcterms:modified xsi:type="dcterms:W3CDTF">2025-10-25T00:01:17Z</dcterms:modified>
</cp:coreProperties>
</file>